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575" y="2513512"/>
            <a:ext cx="11854019" cy="156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32FCCC0-A7DF-BD49-9203-9054B95064AC}"/>
              </a:ext>
            </a:extLst>
          </p:cNvPr>
          <p:cNvSpPr txBox="1">
            <a:spLocks/>
          </p:cNvSpPr>
          <p:nvPr userDrawn="1"/>
        </p:nvSpPr>
        <p:spPr>
          <a:xfrm>
            <a:off x="56843" y="90575"/>
            <a:ext cx="3572013" cy="188081"/>
          </a:xfrm>
          <a:prstGeom prst="rect">
            <a:avLst/>
          </a:prstGeom>
        </p:spPr>
        <p:txBody>
          <a:bodyPr anchor="t"/>
          <a:lstStyle>
            <a:lvl1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62398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800" b="0" i="0" kern="1200" spc="30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5pPr>
            <a:lvl6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US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INNER CHAPTER </a:t>
            </a: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償却資産税業務へのRAG導入提案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一言で言うと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2743200"/>
            <a:ext cx="11734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Calibri"/>
              </a:rPr>
              <a:t>新システムにデータはある。活用する知恵がRAG。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新システム不安定</a:t>
            </a:r>
          </a:p>
          <a:p>
            <a:pPr/>
          </a:p>
          <a:p>
            <a:pPr lvl="1"/>
            <a:r>
              <a:rPr>
                <a:latin typeface="Calibri"/>
              </a:rPr>
              <a:t>安定化に想定以上の工数。例年より忙しい見込み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知見の属人化</a:t>
            </a:r>
          </a:p>
          <a:p>
            <a:pPr/>
          </a:p>
          <a:p>
            <a:pPr lvl="1"/>
            <a:r>
              <a:rPr>
                <a:latin typeface="Calibri"/>
              </a:rPr>
              <a:t>専任職の知見が異動で喪失。精査品質が低下するリスク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3. 大量データ</a:t>
            </a:r>
          </a:p>
          <a:p>
            <a:pPr/>
          </a:p>
          <a:p>
            <a:pPr lvl="1"/>
            <a:r>
              <a:rPr>
                <a:latin typeface="Calibri"/>
              </a:rPr>
              <a:t>申告データの全件チェックは手作業では不可能</a:t>
            </a:r>
          </a:p>
          <a:p>
            <a:pPr lvl="1"/>
          </a:p>
        </p:txBody>
      </p:sp>
      <p:sp>
        <p:nvSpPr>
          <p:cNvPr id="5" name="Text Placeholder 4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4. 問い合わせ集中</a:t>
            </a:r>
          </a:p>
          <a:p>
            <a:pPr/>
          </a:p>
          <a:p>
            <a:pPr lvl="1"/>
            <a:r>
              <a:rPr>
                <a:latin typeface="Calibri"/>
              </a:rPr>
              <a:t>電話対応が繁忙期に集中。回答品質にばらつき
</a:t>
            </a:r>
            <a:r>
              <a:rPr b="1">
                <a:latin typeface="Calibri"/>
              </a:rPr>
              <a:t>忙しいからこそ、調査系を楽にする必要がある</a:t>
            </a:r>
          </a:p>
          <a:p>
            <a:pPr lvl="1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 - 今の課題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71600"/>
            <a:ext cx="11734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100">
                <a:solidFill>
                  <a:srgbClr val="000000"/>
                </a:solidFill>
              </a:rPr>
              <a:t>忙しいからこそ、調査系を楽にする必要がある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新システムの「もったいない」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新システム単体</a:t>
            </a:r>
          </a:p>
          <a:p>
            <a:pPr/>
          </a:p>
          <a:p>
            <a:pPr lvl="1"/>
            <a:r>
              <a:rPr>
                <a:latin typeface="Calibri"/>
              </a:rPr>
              <a:t>5年分のデータを保持</a:t>
            </a:r>
          </a:p>
          <a:p>
            <a:pPr lvl="1"/>
          </a:p>
          <a:p>
            <a:pPr lvl="1"/>
            <a:r>
              <a:rPr>
                <a:latin typeface="Calibri"/>
              </a:rPr>
              <a:t>過去の申告漏れを検出可能</a:t>
            </a:r>
          </a:p>
          <a:p>
            <a:pPr lvl="1"/>
          </a:p>
          <a:p>
            <a:pPr lvl="1"/>
            <a:r>
              <a:rPr>
                <a:latin typeface="Calibri"/>
              </a:rPr>
              <a:t>しかしデータ活用は手動確認のみ</a:t>
            </a:r>
          </a:p>
          <a:p>
            <a:pPr lvl="1"/>
          </a:p>
          <a:p>
            <a:pPr lvl="1"/>
            <a:r>
              <a:rPr b="1">
                <a:latin typeface="Calibri"/>
              </a:rPr>
              <a:t>投資回収が限定的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新システム + RAG</a:t>
            </a:r>
          </a:p>
          <a:p>
            <a:pPr/>
          </a:p>
          <a:p>
            <a:pPr lvl="1"/>
            <a:r>
              <a:rPr>
                <a:latin typeface="Calibri"/>
              </a:rPr>
              <a:t>同じデータ基盤を活用</a:t>
            </a:r>
          </a:p>
          <a:p>
            <a:pPr lvl="1"/>
          </a:p>
          <a:p>
            <a:pPr lvl="1"/>
            <a:r>
              <a:rPr>
                <a:latin typeface="Calibri"/>
              </a:rPr>
              <a:t>自動スクリーニングで全件チェック</a:t>
            </a:r>
          </a:p>
          <a:p>
            <a:pPr lvl="1"/>
          </a:p>
          <a:p>
            <a:pPr lvl="1"/>
            <a:r>
              <a:rPr>
                <a:latin typeface="Calibri"/>
              </a:rPr>
              <a:t>知見検索で精査を効率化</a:t>
            </a:r>
          </a:p>
          <a:p>
            <a:pPr lvl="1"/>
          </a:p>
          <a:p>
            <a:pPr lvl="1"/>
            <a:r>
              <a:rPr b="1">
                <a:latin typeface="Calibri"/>
              </a:rPr>
              <a:t>データ活用で投資を回収</a:t>
            </a:r>
          </a:p>
          <a:p>
            <a:pPr lvl="1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0"/>
            <a:ext cx="11734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100">
                <a:solidFill>
                  <a:srgbClr val="000000"/>
                </a:solidFill>
              </a:rPr>
              <a:t>保持するだけではもったいない。RAGで活用してこそ投資回収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UC-1 大規模家屋 見積精査AI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Before</a:t>
            </a:r>
          </a:p>
          <a:p>
            <a:pPr/>
          </a:p>
          <a:p>
            <a:pPr lvl="1"/>
            <a:r>
              <a:rPr>
                <a:latin typeface="Calibri"/>
              </a:rPr>
              <a:t>対象: 1,000m2以上の事業用建物</a:t>
            </a:r>
          </a:p>
          <a:p>
            <a:pPr lvl="1"/>
          </a:p>
          <a:p>
            <a:pPr lvl="1"/>
            <a:r>
              <a:rPr>
                <a:latin typeface="Calibri"/>
              </a:rPr>
              <a:t>見積書・図面の精査に数時間</a:t>
            </a:r>
          </a:p>
          <a:p>
            <a:pPr lvl="1"/>
          </a:p>
          <a:p>
            <a:pPr lvl="1"/>
            <a:r>
              <a:rPr>
                <a:latin typeface="Calibri"/>
              </a:rPr>
              <a:t>評価要領の深い理解と経験が必要</a:t>
            </a:r>
          </a:p>
          <a:p>
            <a:pPr lvl="1"/>
          </a:p>
          <a:p>
            <a:pPr lvl="1"/>
            <a:r>
              <a:rPr>
                <a:latin typeface="Calibri"/>
              </a:rPr>
              <a:t>経験の浅い職員は見落としリスク大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After (RAG導入後)</a:t>
            </a:r>
          </a:p>
          <a:p>
            <a:pPr/>
          </a:p>
          <a:p>
            <a:pPr lvl="1"/>
            <a:r>
              <a:rPr>
                <a:latin typeface="Calibri"/>
              </a:rPr>
              <a:t>評価要領+ノウハウをAIが参照</a:t>
            </a:r>
          </a:p>
          <a:p>
            <a:pPr lvl="1"/>
          </a:p>
          <a:p>
            <a:pPr lvl="1"/>
            <a:r>
              <a:rPr>
                <a:latin typeface="Calibri"/>
              </a:rPr>
              <a:t>精査ポイントと概算評価を自動提示</a:t>
            </a:r>
          </a:p>
          <a:p>
            <a:pPr lvl="1"/>
          </a:p>
          <a:p>
            <a:pPr lvl="1"/>
            <a:r>
              <a:rPr>
                <a:latin typeface="Calibri"/>
              </a:rPr>
              <a:t>初期精査時間を大幅短縮</a:t>
            </a:r>
          </a:p>
          <a:p>
            <a:pPr lvl="1"/>
          </a:p>
          <a:p>
            <a:pPr lvl="1"/>
            <a:r>
              <a:rPr>
                <a:latin typeface="Calibri"/>
              </a:rPr>
              <a:t>知見が異動に左右されず蓄積</a:t>
            </a:r>
          </a:p>
          <a:p>
            <a:pPr lvl="1"/>
          </a:p>
        </p:txBody>
      </p:sp>
      <p:sp>
        <p:nvSpPr>
          <p:cNvPr id="5" name="TextBox 4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UC-2 申告データ疑義抽出AI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Before</a:t>
            </a:r>
          </a:p>
          <a:p>
            <a:pPr/>
          </a:p>
          <a:p>
            <a:pPr lvl="1"/>
            <a:r>
              <a:rPr>
                <a:latin typeface="Calibri"/>
              </a:rPr>
              <a:t>電子申告・紙申告のCSVデータを登録</a:t>
            </a:r>
          </a:p>
          <a:p>
            <a:pPr lvl="1"/>
          </a:p>
          <a:p>
            <a:pPr lvl="1"/>
            <a:r>
              <a:rPr>
                <a:latin typeface="Calibri"/>
              </a:rPr>
              <a:t>手作業で一部のみチェック</a:t>
            </a:r>
          </a:p>
          <a:p>
            <a:pPr lvl="1"/>
          </a:p>
          <a:p>
            <a:pPr lvl="1"/>
            <a:r>
              <a:rPr>
                <a:latin typeface="Calibri"/>
              </a:rPr>
              <a:t>全件目視は現実的に不可能</a:t>
            </a:r>
          </a:p>
          <a:p>
            <a:pPr lvl="1"/>
          </a:p>
          <a:p>
            <a:pPr lvl="1"/>
            <a:r>
              <a:rPr>
                <a:latin typeface="Calibri"/>
              </a:rPr>
              <a:t>見逃しは課税漏れ・過大課税に直結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After (RAG導入後)</a:t>
            </a:r>
          </a:p>
          <a:p>
            <a:pPr/>
          </a:p>
          <a:p>
            <a:pPr lvl="1"/>
            <a:r>
              <a:rPr>
                <a:latin typeface="Calibri"/>
              </a:rPr>
              <a:t>ルールベース+RAGの2層で自動分類</a:t>
            </a:r>
          </a:p>
          <a:p>
            <a:pPr lvl="1"/>
          </a:p>
          <a:p>
            <a:pPr lvl="1"/>
            <a:r>
              <a:rPr>
                <a:latin typeface="Calibri"/>
              </a:rPr>
              <a:t>疑義フラグ・理由・優先度を付与</a:t>
            </a:r>
          </a:p>
          <a:p>
            <a:pPr lvl="1"/>
          </a:p>
          <a:p>
            <a:pPr lvl="1"/>
            <a:r>
              <a:rPr>
                <a:latin typeface="Calibri"/>
              </a:rPr>
              <a:t>全件スクリーニングが可能に</a:t>
            </a:r>
          </a:p>
          <a:p>
            <a:pPr lvl="1"/>
          </a:p>
          <a:p>
            <a:pPr lvl="1"/>
            <a:r>
              <a:rPr>
                <a:latin typeface="Calibri"/>
              </a:rPr>
              <a:t>5年遡及データで過去の漏れも検出</a:t>
            </a:r>
          </a:p>
          <a:p>
            <a:pPr lvl="1"/>
          </a:p>
        </p:txBody>
      </p:sp>
      <p:sp>
        <p:nvSpPr>
          <p:cNvPr id="5" name="TextBox 4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判断が必要</a:t>
            </a:r>
          </a:p>
          <a:p>
            <a:pPr/>
          </a:p>
          <a:p>
            <a:pPr lvl="1"/>
            <a:r>
              <a:rPr>
                <a:latin typeface="Calibri"/>
              </a:rPr>
              <a:t>類似記載はあるが完全一致しない。職員に確認を案内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3. 回答不可</a:t>
            </a:r>
          </a:p>
          <a:p>
            <a:pPr/>
          </a:p>
          <a:p>
            <a:pPr lvl="1"/>
            <a:r>
              <a:rPr>
                <a:latin typeface="Calibri"/>
              </a:rPr>
              <a:t>該当記載なし。窓口・電話への誘導をAIが案内
</a:t>
            </a:r>
            <a:r>
              <a:rPr b="1">
                <a:latin typeface="Calibri"/>
              </a:rPr>
              <a:t>チャットボットが一次対応。職員は判断案件に集中。24時間対応+ログ自動蓄積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回答可能</a:t>
            </a:r>
          </a:p>
          <a:p>
            <a:pPr/>
          </a:p>
          <a:p>
            <a:pPr lvl="1"/>
            <a:r>
              <a:rPr>
                <a:latin typeface="Calibri"/>
              </a:rPr>
              <a:t>ナレッジに該当記載あり。AIがそのまま回答。ログを記録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UC-3 事業者向けチャットボット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0"/>
            <a:ext cx="11734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100">
                <a:solidFill>
                  <a:srgbClr val="000000"/>
                </a:solidFill>
              </a:rPr>
              <a:t>チャットボットが一次対応。職員は判断案件に集中。24時間対応+ログ自動蓄積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UC-2 疑義抽出</a:t>
            </a:r>
          </a:p>
          <a:p>
            <a:pPr/>
          </a:p>
          <a:p>
            <a:pPr lvl="1"/>
            <a:r>
              <a:rPr>
                <a:latin typeface="Calibri"/>
              </a:rPr>
              <a:t>判定基準・是正事例を参照して申告データを自動分類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3. UC-3 チャットボット</a:t>
            </a:r>
          </a:p>
          <a:p>
            <a:pPr/>
          </a:p>
          <a:p>
            <a:pPr lvl="1"/>
            <a:r>
              <a:rPr>
                <a:latin typeface="Calibri"/>
              </a:rPr>
              <a:t>手引き・FAQ・耐用年数表を参照して事業者の質問に回答
</a:t>
            </a:r>
            <a:r>
              <a:rPr b="1">
                <a:latin typeface="Calibri"/>
              </a:rPr>
              <a:t>共通ナレッジベース: 評価要領 / 判定基準 / FAQ / 過去事例。1つの投資で3つの業務改善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UC-1 見積精査</a:t>
            </a:r>
          </a:p>
          <a:p>
            <a:pPr/>
          </a:p>
          <a:p>
            <a:pPr lvl="1"/>
            <a:r>
              <a:rPr>
                <a:latin typeface="Calibri"/>
              </a:rPr>
              <a:t>評価要領・専任職ノウハウ・過去事例を参照して精査を支援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3つのUCの共通基盤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0"/>
            <a:ext cx="11734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100">
                <a:solidFill>
                  <a:srgbClr val="000000"/>
                </a:solidFill>
              </a:rPr>
              <a:t>共通ナレッジベース: 評価要領 / 判定基準 / FAQ / 過去事例。1つの投資で3つの業務改善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業務利用</a:t>
            </a:r>
          </a:p>
          <a:p>
            <a:pPr/>
          </a:p>
          <a:p>
            <a:pPr lvl="1"/>
            <a:r>
              <a:rPr>
                <a:latin typeface="Calibri"/>
              </a:rPr>
              <a:t>3つのUCがナレッジベースを日常的に利用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ログ蓄積</a:t>
            </a:r>
          </a:p>
          <a:p>
            <a:pPr/>
          </a:p>
          <a:p>
            <a:pPr lvl="1"/>
            <a:r>
              <a:rPr>
                <a:latin typeface="Calibri"/>
              </a:rPr>
              <a:t>AIが答えられなかった質問や職員の修正を自動記録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3. 職員が承認</a:t>
            </a:r>
          </a:p>
          <a:p>
            <a:pPr/>
          </a:p>
          <a:p>
            <a:pPr lvl="1"/>
            <a:r>
              <a:rPr>
                <a:latin typeface="Calibri"/>
              </a:rPr>
              <a:t>AIの自動更新は禁止。必ず人が内容を確認して反映</a:t>
            </a:r>
          </a:p>
          <a:p>
            <a:pPr lvl="1"/>
          </a:p>
        </p:txBody>
      </p:sp>
      <p:sp>
        <p:nvSpPr>
          <p:cNvPr id="5" name="Text Placeholder 4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4. ナレッジ更新</a:t>
            </a:r>
          </a:p>
          <a:p>
            <a:pPr/>
          </a:p>
          <a:p>
            <a:pPr lvl="1"/>
            <a:r>
              <a:rPr>
                <a:latin typeface="Calibri"/>
              </a:rPr>
              <a:t>承認された知見がナレッジベースに追加。循環が回る</a:t>
            </a:r>
          </a:p>
          <a:p>
            <a:pPr lvl="1"/>
          </a:p>
          <a:p>
            <a:pPr lvl="1"/>
            <a:r>
              <a:rPr>
                <a:latin typeface="Calibri"/>
              </a:rPr>
              <a:t>異動のたびに知識が失われる → 異動のたびに知識が強くなる</a:t>
            </a:r>
          </a:p>
          <a:p>
            <a:pPr lvl="1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知識更新エコシステム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71600"/>
            <a:ext cx="11734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100">
                <a:solidFill>
                  <a:srgbClr val="000000"/>
                </a:solidFill>
              </a:rPr>
              <a:t>異動のたびに知識が失われる → 異動のたびに知識が強くなる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汎用AIとの違い</a:t>
            </a:r>
          </a:p>
          <a:p>
            <a:pPr/>
          </a:p>
          <a:p>
            <a:pPr lvl="1"/>
            <a:r>
              <a:rPr>
                <a:latin typeface="Calibri"/>
              </a:rPr>
              <a:t>自治体固有の評価要領・判定基準を参照して回答できる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3. 後任との相性</a:t>
            </a:r>
          </a:p>
          <a:p>
            <a:pPr/>
          </a:p>
          <a:p>
            <a:pPr lvl="1"/>
            <a:r>
              <a:rPr>
                <a:latin typeface="Calibri"/>
              </a:rPr>
              <a:t>後任はNotebookLM利用経験あり。技術的ハードルが低い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RAGとは</a:t>
            </a:r>
          </a:p>
          <a:p>
            <a:pPr/>
          </a:p>
          <a:p>
            <a:pPr lvl="1"/>
            <a:r>
              <a:rPr>
                <a:latin typeface="Calibri"/>
              </a:rPr>
              <a:t>自分たちの資料を読んで答えるAI。NotebookLMのイメージ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なぜRAGか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自前構築</a:t>
            </a:r>
          </a:p>
          <a:p>
            <a:pPr/>
          </a:p>
          <a:p>
            <a:pPr lvl="1"/>
            <a:r>
              <a:rPr>
                <a:latin typeface="Calibri"/>
              </a:rPr>
              <a:t>デジ統括と連携しRAG構築。初期200-500万。カスタマイズ性高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3. ハイブリッド(推奨)</a:t>
            </a:r>
          </a:p>
          <a:p>
            <a:pPr/>
          </a:p>
          <a:p>
            <a:pPr lvl="1"/>
            <a:r>
              <a:rPr>
                <a:latin typeface="Calibri"/>
              </a:rPr>
              <a:t>UC-1/3はSaaS、UC-2は自前。コストと柔軟性のバランス最適
</a:t>
            </a:r>
            <a:r>
              <a:rPr b="1">
                <a:latin typeface="Calibri"/>
              </a:rPr>
              <a:t>Phase 1はNotebookLMで実質無料。ライセンスさえあれば即開始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SaaS活用</a:t>
            </a:r>
          </a:p>
          <a:p>
            <a:pPr/>
          </a:p>
          <a:p>
            <a:pPr lvl="1"/>
            <a:r>
              <a:rPr>
                <a:latin typeface="Calibri"/>
              </a:rPr>
              <a:t>kopo等の既製品を利用。初期費用低、月額15-50万。カスタマイズ性は限定的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コストと導入方式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0"/>
            <a:ext cx="11734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100">
                <a:solidFill>
                  <a:srgbClr val="000000"/>
                </a:solidFill>
              </a:rPr>
              <a:t>Phase 1はNotebookLMで実質無料。ライセンスさえあれば即開始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チャットボット免責</a:t>
            </a:r>
          </a:p>
          <a:p>
            <a:pPr/>
          </a:p>
          <a:p>
            <a:pPr lvl="1"/>
            <a:r>
              <a:rPr>
                <a:latin typeface="Calibri"/>
              </a:rPr>
              <a:t>全回答に「参考情報」の免責表示。不確実な回答は職員にエスカレーション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3. Go/No-Go判定</a:t>
            </a:r>
          </a:p>
          <a:p>
            <a:pPr/>
          </a:p>
          <a:p>
            <a:pPr lvl="1"/>
            <a:r>
              <a:rPr>
                <a:latin typeface="Calibri"/>
              </a:rPr>
              <a:t>Phase 1で精度検証。疑義検出率80%未満ならSaaS切替or中止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大原則</a:t>
            </a:r>
          </a:p>
          <a:p>
            <a:pPr/>
          </a:p>
          <a:p>
            <a:pPr lvl="1"/>
            <a:r>
              <a:rPr>
                <a:latin typeface="Calibri"/>
              </a:rPr>
              <a:t>AI出力は必ず職員が最終確認。補助ツールであり判断ツールではない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精度と安全性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Phase 2 (3-6ヶ月)</a:t>
            </a:r>
          </a:p>
          <a:p>
            <a:pPr/>
          </a:p>
          <a:p>
            <a:pPr/>
            <a:r>
              <a:rPr>
                <a:latin typeface="Calibri"/>
              </a:rPr>
              <a:t>デジ統括と本格構築</a:t>
            </a:r>
          </a:p>
          <a:p>
            <a:pPr lvl="1"/>
            <a:r>
              <a:rPr>
                <a:latin typeface="Calibri"/>
              </a:rPr>
              <a:t>UC-1, UC-2を本格RAG化</a:t>
            </a:r>
          </a:p>
          <a:p>
            <a:pPr lvl="1"/>
          </a:p>
          <a:p>
            <a:pPr lvl="1"/>
            <a:r>
              <a:rPr>
                <a:latin typeface="Calibri"/>
              </a:rPr>
              <a:t>ハイブリッド方式で構築</a:t>
            </a:r>
          </a:p>
          <a:p>
            <a:pPr lvl="1"/>
          </a:p>
          <a:p>
            <a:pPr lvl="1"/>
            <a:r>
              <a:rPr>
                <a:latin typeface="Calibri"/>
              </a:rPr>
              <a:t>ナレッジベース整備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3. Phase 3 (6ヶ月-)</a:t>
            </a:r>
          </a:p>
          <a:p>
            <a:pPr/>
          </a:p>
          <a:p>
            <a:pPr/>
            <a:r>
              <a:rPr>
                <a:latin typeface="Calibri"/>
              </a:rPr>
              <a:t>チャットボット+エコシステム</a:t>
            </a:r>
          </a:p>
          <a:p>
            <a:pPr lvl="1"/>
            <a:r>
              <a:rPr>
                <a:latin typeface="Calibri"/>
              </a:rPr>
              <a:t>UC-3をSaaSで導入</a:t>
            </a:r>
          </a:p>
          <a:p>
            <a:pPr lvl="1"/>
          </a:p>
          <a:p>
            <a:pPr lvl="1"/>
            <a:r>
              <a:rPr>
                <a:latin typeface="Calibri"/>
              </a:rPr>
              <a:t>知識更新の循環を確立</a:t>
            </a:r>
          </a:p>
          <a:p>
            <a:pPr lvl="1"/>
          </a:p>
          <a:p>
            <a:pPr lvl="1"/>
            <a:r>
              <a:rPr>
                <a:latin typeface="Calibri"/>
              </a:rPr>
              <a:t>運用定着と効果測定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Phase 1 (1-2ヶ月)</a:t>
            </a:r>
          </a:p>
          <a:p>
            <a:pPr/>
          </a:p>
          <a:p>
            <a:pPr/>
            <a:r>
              <a:rPr>
                <a:latin typeface="Calibri"/>
              </a:rPr>
              <a:t>NotebookLMでPoC</a:t>
            </a:r>
          </a:p>
          <a:p>
            <a:pPr lvl="1"/>
            <a:r>
              <a:rPr>
                <a:latin typeface="Calibri"/>
              </a:rPr>
              <a:t>UC-2の疑義抽出を検証</a:t>
            </a:r>
          </a:p>
          <a:p>
            <a:pPr lvl="1"/>
          </a:p>
          <a:p>
            <a:pPr lvl="1"/>
            <a:r>
              <a:rPr>
                <a:latin typeface="Calibri"/>
              </a:rPr>
              <a:t>実質無料で着手可能</a:t>
            </a:r>
          </a:p>
          <a:p>
            <a:pPr lvl="1"/>
          </a:p>
          <a:p>
            <a:pPr lvl="1"/>
            <a:r>
              <a:rPr>
                <a:latin typeface="Calibri"/>
              </a:rPr>
              <a:t>Go/No-Go判定を実施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導入ステップ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他税目・他部署へ</a:t>
            </a:r>
          </a:p>
          <a:p>
            <a:pPr/>
          </a:p>
          <a:p>
            <a:pPr lvl="1"/>
            <a:r>
              <a:rPr>
                <a:latin typeface="Calibri"/>
              </a:rPr>
              <a:t>市民税のチャットボット、収納のナレッジベース等に波及可能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3. なぜ償却が起点か</a:t>
            </a:r>
          </a:p>
          <a:p>
            <a:pPr/>
          </a:p>
          <a:p>
            <a:pPr lvl="1"/>
            <a:r>
              <a:rPr>
                <a:latin typeface="Calibri"/>
              </a:rPr>
              <a:t>CSVデータが構造化済み。ナレッジの共有範囲が広い。後任にAIリテラシーあり
</a:t>
            </a:r>
            <a:r>
              <a:rPr b="1">
                <a:latin typeface="Calibri"/>
              </a:rPr>
              <a:t>償却資産が税部門全体のDXの起点になる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固定資産税全体へ</a:t>
            </a:r>
          </a:p>
          <a:p>
            <a:pPr/>
          </a:p>
          <a:p>
            <a:pPr lvl="1"/>
            <a:r>
              <a:rPr>
                <a:latin typeface="Calibri"/>
              </a:rPr>
              <a:t>土地評価・家屋評価に横展開。評価要領・条例規則は共通で追加投資は最小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展開可能性 - 税畑のファーストペンギン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0"/>
            <a:ext cx="11734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100">
                <a:solidFill>
                  <a:srgbClr val="000000"/>
                </a:solidFill>
              </a:rPr>
              <a:t>償却資産が税部門全体のDXの起点になる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リスクと対策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1645920"/>
          <a:ext cx="11734495" cy="123444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3671126"/>
                <a:gridCol w="8063369"/>
              </a:tblGrid>
              <a:tr h="32004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リスク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対策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業務負荷が高く着手困難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Phase 1は閑散期に5-10人日。NotebookLMで準備も軽い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精度が不十分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Go/No-Go基準で判定。ダメなら撤退できる設計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ナレッジの陳腐化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エコシステム+年1回棚卸し+3ヶ月滞留でエスカレーション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コスト超過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Phase 1は無料。本格導入はデジ統括の支援範囲次第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セキュリティ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デジ統括の基準に準拠。オンプレor閉域網を検討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この提案の本質: 知識を人から組織に移す仕組みづくり</a:t>
            </a:r>
          </a:p>
          <a:p>
            <a:pPr lvl="1"/>
            <a:r>
              <a:rPr>
                <a:latin typeface="Calibri"/>
              </a:rPr>
              <a:t>デジタル統括本部の手上げ制が発表されたら速やかに応募する</a:t>
            </a:r>
          </a:p>
          <a:p>
            <a:pPr lvl="1"/>
            <a:r>
              <a:rPr>
                <a:latin typeface="Calibri"/>
              </a:rPr>
              <a:t>本提案書(proposal.md)を申請資料のベースにする</a:t>
            </a:r>
          </a:p>
          <a:p>
            <a:pPr lvl="1"/>
            <a:r>
              <a:rPr>
                <a:latin typeface="Calibri"/>
              </a:rPr>
              <a:t>まずNotebookLMでUC-2のプロトタイプを試す(ライセンス確認を最初に)</a:t>
            </a:r>
          </a:p>
          <a:p>
            <a:pPr lvl="1"/>
            <a:r>
              <a:rPr>
                <a:latin typeface="Calibri"/>
              </a:rPr>
              <a:t>不明点はデジタル統括本部の担当者に相談</a:t>
            </a:r>
          </a:p>
          <a:p>
            <a:pPr lvl="1"/>
            <a:r>
              <a:rPr>
                <a:latin typeface="Calibri"/>
              </a:rPr>
              <a:t>償却資産が税畑のファーストペンギンになる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 - 後任への引継ぎ事項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TextBox 4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